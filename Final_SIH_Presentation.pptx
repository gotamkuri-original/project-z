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Problem Statement ID: SIH26184</a:t>
            </a:r>
            <a:br/>
            <a:r>
              <a:rPr>
                <a:solidFill>
                  <a:srgbClr val="000000"/>
                </a:solidFill>
              </a:rPr>
              <a:t>Problem Statement Title: Predictive Cybercrime Analytics and ATM Fraud Hotspot Detection</a:t>
            </a:r>
            <a:br/>
            <a:r>
              <a:rPr>
                <a:solidFill>
                  <a:srgbClr val="000000"/>
                </a:solidFill>
              </a:rPr>
              <a:t>Theme: Smart Automation / Security &amp; Surveillance</a:t>
            </a:r>
            <a:br/>
            <a:r>
              <a:rPr>
                <a:solidFill>
                  <a:srgbClr val="000000"/>
                </a:solidFill>
              </a:rPr>
              <a:t>PS Category: Software</a:t>
            </a:r>
            <a:br/>
            <a:r>
              <a:rPr>
                <a:solidFill>
                  <a:srgbClr val="000000"/>
                </a:solidFill>
              </a:rPr>
              <a:t>Team ID: [Insert Team ID]</a:t>
            </a:r>
            <a:br/>
            <a:r>
              <a:rPr>
                <a:solidFill>
                  <a:srgbClr val="000000"/>
                </a:solidFill>
              </a:rPr>
              <a:t>Team Name (Registered on portal): CTRL Z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>
                <a:solidFill>
                  <a:srgbClr val="000000"/>
                </a:solidFill>
              </a:rPr>
              <a:t>IDEA TITLE: CrimeShield AI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  <a:defRPr b="1" sz="1800">
                <a:solidFill>
                  <a:srgbClr val="0070C0"/>
                </a:solidFill>
              </a:defRPr>
            </a:pPr>
            <a:r>
              <a:rPr>
                <a:solidFill>
                  <a:srgbClr val="000000"/>
                </a:solidFill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defRPr sz="1400" b="1"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1. Detailed explanation of the proposed solution:</a:t>
            </a:r>
          </a:p>
          <a:p>
            <a:pPr lvl="1">
              <a:defRPr sz="1400" b="0"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• API-driven predictive policing platform connecting 1930 digital complaints to physical patrols.</a:t>
            </a:r>
          </a:p>
          <a:p>
            <a:pPr lvl="1">
              <a:defRPr sz="1400" b="0"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• Auto-Trace: Automatically queries bank APIs to discover mule chain hops.</a:t>
            </a:r>
          </a:p>
          <a:p>
            <a:pPr lvl="1">
              <a:defRPr sz="1400" b="0"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• 2-Stage ML Pipeline: Predicts city (Stage 1) and exact Top 3 ATMs (Stage 2).</a:t>
            </a:r>
          </a:p>
          <a:p>
            <a:pPr>
              <a:defRPr sz="1400" b="1"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2. How it addresses the problem:</a:t>
            </a:r>
          </a:p>
          <a:p>
            <a:pPr lvl="1">
              <a:defRPr sz="1400" b="0"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• Eliminates the 24-hour bank-freeze latency window; operates in the 20-min Golden Hour.</a:t>
            </a:r>
          </a:p>
          <a:p>
            <a:pPr lvl="1">
              <a:defRPr sz="1400" b="0"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• Solves the tactical gap by providing exact street coordinates instead of vague city heatmaps.</a:t>
            </a:r>
          </a:p>
          <a:p>
            <a:pPr>
              <a:defRPr sz="1400" b="1"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3. Innovation and uniqueness:</a:t>
            </a:r>
          </a:p>
          <a:p>
            <a:pPr lvl="1">
              <a:defRPr sz="1400" b="0"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• Micro-Targeting &amp; Automated Chain Discovery removes human guessing.</a:t>
            </a:r>
          </a:p>
          <a:p>
            <a:pPr lvl="1">
              <a:defRPr sz="1400" b="0"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• SHAP Explainable AI integration for court-admissible deployment logs.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000000"/>
                </a:solidFill>
              </a:rPr>
              <a:t>CTRL Z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3" name="Picture 15362" descr="media_17903261525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286000"/>
            <a:ext cx="2743200" cy="118609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  <a:defRPr b="1" sz="1600">
                <a:solidFill>
                  <a:srgbClr val="0070C0"/>
                </a:solidFill>
              </a:defRPr>
            </a:pPr>
            <a:r>
              <a:rPr>
                <a:solidFill>
                  <a:srgbClr val="000000"/>
                </a:solidFill>
              </a:rPr>
              <a:t>1. Technologies to be used (programming languages, frameworks, hardware):</a:t>
            </a:r>
          </a:p>
          <a:p>
            <a:pPr lvl="1">
              <a:defRPr sz="1400" b="0"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• Machine Learning: Python, XGBoost, Scikit-Learn (CPU-optimized, &lt;50ms inference).</a:t>
            </a:r>
          </a:p>
          <a:p>
            <a:pPr lvl="1">
              <a:defRPr sz="1400" b="0"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• Backend Engine: FastAPI (Asynchronous), Uvicorn, Pydantic.</a:t>
            </a:r>
          </a:p>
          <a:p>
            <a:pPr lvl="1">
              <a:defRPr sz="1400" b="0"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• Frontend/Geospatial: Next.js (React 19), Leaflet clustering (30,000+ nodes without lag).</a:t>
            </a:r>
          </a:p>
          <a:p>
            <a:pPr>
              <a:defRPr sz="1400" b="1"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2. Methodology and process for implementation:</a:t>
            </a:r>
          </a:p>
          <a:p>
            <a:pPr lvl="1">
              <a:defRPr sz="1400" b="0"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• Step 1: Ingestion (1930 / CFCFRMS) -&gt; Victim logs fraud type &amp; amount.</a:t>
            </a:r>
          </a:p>
          <a:p>
            <a:pPr lvl="1">
              <a:defRPr sz="1400" b="0"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• Step 2: Auto-Trace -&gt; Bank API handshake detects mule hops.</a:t>
            </a:r>
          </a:p>
          <a:p>
            <a:pPr lvl="1">
              <a:defRPr sz="1400" b="0"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• Step 3: XGBoost Macro-Prediction -&gt; Forecasts destination city corridor.</a:t>
            </a:r>
          </a:p>
          <a:p>
            <a:pPr lvl="1">
              <a:defRPr sz="1400" b="0"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• Step 4: Spatial Micro-Prediction -&gt; Filters ATMs by highway proximity (&lt;500m).</a:t>
            </a:r>
          </a:p>
          <a:p>
            <a:pPr lvl="1">
              <a:defRPr sz="1400" b="0"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• Step 5: CCTNS Dispatch -&gt; Patrol car alerted with exact Top 3 ATMs.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000000"/>
                </a:solidFill>
              </a:rPr>
              <a:t>CTRL Z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b="1" sz="1600">
                <a:solidFill>
                  <a:srgbClr val="0070C0"/>
                </a:solidFill>
              </a:defRPr>
            </a:pPr>
            <a:r>
              <a:rPr>
                <a:solidFill>
                  <a:srgbClr val="000000"/>
                </a:solidFill>
              </a:rPr>
              <a:t>1. Analysis of the feasibility of the idea: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lvl="1">
              <a:defRPr sz="1400" b="0"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• Plug-and-Play: Integrates directly with NCRP/1930 and outputs to CCTNS.</a:t>
            </a:r>
          </a:p>
          <a:p>
            <a:pPr lvl="1">
              <a:defRPr sz="1400" b="0"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• Low Hardware Cost: Runs on standard police data center servers (no expensive GPUs needed).</a:t>
            </a:r>
          </a:p>
          <a:p>
            <a:pPr>
              <a:defRPr sz="1400" b="1"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2. Potential challenges and risks:</a:t>
            </a:r>
          </a:p>
          <a:p>
            <a:pPr lvl="1">
              <a:defRPr sz="1400" b="0"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• Reporting Delay Latency (victim reports 24h late).</a:t>
            </a:r>
          </a:p>
          <a:p>
            <a:pPr lvl="1">
              <a:defRPr sz="1400" b="0"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• Data Privacy (PII) compliance.</a:t>
            </a:r>
          </a:p>
          <a:p>
            <a:pPr>
              <a:defRPr sz="1400" b="1"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3. Strategies for overcoming these challenges:</a:t>
            </a:r>
          </a:p>
          <a:p>
            <a:pPr lvl="1">
              <a:defRPr sz="1400" b="0"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• Model explicitly weights 'reporting_delay_mins' -&gt; shifts to border ATMs for delayed reports.</a:t>
            </a:r>
          </a:p>
          <a:p>
            <a:pPr lvl="1">
              <a:defRPr sz="1400" b="0"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• Complete PII Privacy via one-way SHA-256 hashing. Only spatial coordinates are transmitted.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000000"/>
                </a:solidFill>
              </a:rPr>
              <a:t>CTRL Z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b="1" sz="1600">
                <a:solidFill>
                  <a:srgbClr val="0070C0"/>
                </a:solidFill>
              </a:defRPr>
            </a:pPr>
            <a:r>
              <a:rPr>
                <a:solidFill>
                  <a:srgbClr val="000000"/>
                </a:solidFill>
              </a:rPr>
              <a:t>1. Potential impact on the target audience:</a:t>
            </a:r>
          </a:p>
          <a:p>
            <a:pPr lvl="1">
              <a:defRPr sz="1400" b="0"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• Law Enforcement: Shifts from passive paperwork to proactive physical interdiction.</a:t>
            </a:r>
          </a:p>
          <a:p>
            <a:pPr lvl="1">
              <a:defRPr sz="1400" b="0"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• First Responders: Given exact GPS coordinates rather than vague circulars.</a:t>
            </a:r>
          </a:p>
          <a:p>
            <a:pPr>
              <a:defRPr sz="1400" b="1"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2. Benefits of the solution:</a:t>
            </a:r>
          </a:p>
          <a:p>
            <a:pPr lvl="1">
              <a:defRPr sz="1400" b="0"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• 100% Direct Recovery: Intercepting the runner recovers stolen cash physically on-scene.</a:t>
            </a:r>
          </a:p>
          <a:p>
            <a:pPr lvl="1">
              <a:defRPr sz="1400" b="0"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• Disrupts Hierarchy: Catching a runner yields burner phones, collapsing the syndicate.</a:t>
            </a:r>
          </a:p>
          <a:p>
            <a:pPr lvl="1">
              <a:defRPr sz="1400" b="0"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• Golden Hour: Reduces intervention latency from 24+ hours to &lt;20 minutes.</a:t>
            </a:r>
          </a:p>
          <a:p>
            <a:pPr lvl="1">
              <a:defRPr sz="1400" b="0"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• Operational Efficiency: Automates cross-bank mule correlation, saving hundreds of hours.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000000"/>
                </a:solidFill>
              </a:rPr>
              <a:t>CTRL Z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b="1" sz="1600">
                <a:solidFill>
                  <a:srgbClr val="0070C0"/>
                </a:solidFill>
              </a:defRPr>
            </a:pPr>
            <a:r>
              <a:rPr>
                <a:solidFill>
                  <a:srgbClr val="000000"/>
                </a:solidFill>
              </a:rPr>
              <a:t>Details / Links of the reference and research work: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lvl="1">
              <a:defRPr sz="1400" b="0"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• NCRB Annual Reports (2022-2024): Cyber financial fraud distribution and latency patterns.</a:t>
            </a:r>
          </a:p>
          <a:p>
            <a:pPr lvl="1">
              <a:defRPr sz="1400" b="0"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• I4C &amp; CFCFRMS Framework: MHA operational guidelines for digital fund tracing.</a:t>
            </a:r>
          </a:p>
          <a:p>
            <a:pPr lvl="1">
              <a:defRPr sz="1400" b="0"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• Reserve Bank of India (RBI): Security framework on withdrawal velocity and mule layering.</a:t>
            </a:r>
          </a:p>
          <a:p>
            <a:pPr lvl="1">
              <a:defRPr sz="1400" b="0"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• XGBoost Research: Chen &amp; Guestrin (2016), Scalable Tree Boosting System (ACM SIGKDD).</a:t>
            </a:r>
          </a:p>
          <a:p>
            <a:pPr lvl="1">
              <a:defRPr sz="1400" b="0"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• Prototype Repository: Fully functional open-source codebase ready for testing.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000000"/>
                </a:solidFill>
              </a:rPr>
              <a:t>CTRL Z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